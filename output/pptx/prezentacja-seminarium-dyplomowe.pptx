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6583680" cy="1325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Analiza aktywności
transakcyjnej w blockchainie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331720"/>
            <a:ext cx="64008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Aptos"/>
              </a:rPr>
              <a:t>po incydentach cyberbezpieczeństwa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2907792"/>
            <a:ext cx="65836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Seminarium dyplomowe | Bartosz Kloc | promotor: dr Ruslan Shevchuk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794760"/>
            <a:ext cx="1783080" cy="41148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95344"/>
            <a:ext cx="1783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Ronin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3794760"/>
            <a:ext cx="1783080" cy="41148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3895344"/>
            <a:ext cx="1783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Euler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3794760"/>
            <a:ext cx="1783080" cy="41148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895344"/>
            <a:ext cx="1783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Nomad</a:t>
            </a:r>
          </a:p>
        </p:txBody>
      </p:sp>
      <p:sp>
        <p:nvSpPr>
          <p:cNvPr id="12" name="Oval 11"/>
          <p:cNvSpPr/>
          <p:nvPr/>
        </p:nvSpPr>
        <p:spPr>
          <a:xfrm>
            <a:off x="7955279" y="1005840"/>
            <a:ext cx="3474720" cy="3474720"/>
          </a:xfrm>
          <a:prstGeom prst="ellipse">
            <a:avLst/>
          </a:prstGeom>
          <a:solidFill>
            <a:srgbClr val="172033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965960"/>
            <a:ext cx="2331720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prototyp
analiza grafowa
wyniki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35508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Plan prezentacji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9808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Aptos"/>
              </a:rPr>
              <a:t>Od problemu do aktualnych wyników prototypu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384048"/>
            <a:ext cx="29260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Bartosz Kloc | seminarium dyplomowe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02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325880"/>
            <a:ext cx="512064" cy="512064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512064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307592"/>
            <a:ext cx="36576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Motywacja i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45919"/>
            <a:ext cx="85953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Dlaczego śledzenie przepływu środków po incydencie jest trudne.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350008"/>
            <a:ext cx="512064" cy="512064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05456"/>
            <a:ext cx="512064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331720"/>
            <a:ext cx="36576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Cel i zakres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670048"/>
            <a:ext cx="85953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Co obejmuje praca i jakie pytania ma rozwiązać.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374136"/>
            <a:ext cx="512064" cy="512064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29584"/>
            <a:ext cx="512064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355848"/>
            <a:ext cx="36576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Rozwiązanie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694176"/>
            <a:ext cx="85953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Architektura, metoda śledzenia i implementacja.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398264"/>
            <a:ext cx="512064" cy="512064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53712"/>
            <a:ext cx="512064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379976"/>
            <a:ext cx="36576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Eksperymenty i wnioski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18304"/>
            <a:ext cx="85953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Wyniki dla Ronin, Euler i Nomad oraz dalsze prace.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Wprowadzenie i motywacja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9808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Aptos"/>
              </a:rPr>
              <a:t>Przykład: po ataku środki szybko trafiają na wiele adresów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384048"/>
            <a:ext cx="29260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Bartosz Kloc | seminarium dyplomowe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27432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Ronin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31089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600" b="1">
                <a:solidFill>
                  <a:srgbClr val="F59E0B"/>
                </a:solidFill>
                <a:latin typeface="Aptos"/>
              </a:rPr>
              <a:t>$625M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95728"/>
            <a:ext cx="33832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jeden z największych incydentów blockchainowych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34440"/>
            <a:ext cx="2103120" cy="118872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234440"/>
            <a:ext cx="73152" cy="1188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1380744"/>
            <a:ext cx="17739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Adres źródłowy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1737360"/>
            <a:ext cx="1773936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punkt startowy analizy po incydencie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777240"/>
            <a:ext cx="2103120" cy="96012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777240"/>
            <a:ext cx="73152" cy="9601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6368" y="923544"/>
            <a:ext cx="17739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Pośrednicy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1280160"/>
            <a:ext cx="177393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kolejne adresy i transfery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057400"/>
            <a:ext cx="2103120" cy="96012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2057400"/>
            <a:ext cx="73152" cy="96012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8" y="2203704"/>
            <a:ext cx="17739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Punkty końcowe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8" y="2560320"/>
            <a:ext cx="177393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giełdy, mosty, miksery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1417320"/>
            <a:ext cx="1691640" cy="114300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29800" y="1417320"/>
            <a:ext cx="73152" cy="11430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30968" y="1563624"/>
            <a:ext cx="13624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Wynik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1920240"/>
            <a:ext cx="1362456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graf i metryki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94760"/>
            <a:ext cx="5669280" cy="128016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ręczna analiza w eksploratorze jest czasochłonna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środki mogą przechodzić przez wiele adresów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potrzebne jest narzędzie porządkujące analizę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Problem badawczy i cel pracy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9808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Aptos"/>
              </a:rPr>
              <a:t>Automatyzacja części analizy po znanym incydencie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384048"/>
            <a:ext cx="29260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Bartosz Kloc | seminarium dyplomowe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51560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Aptos"/>
              </a:rPr>
              <a:t>Czy można zautomatyzować analizę przepływu środków po incydencie?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3383280" cy="132588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73152" cy="132588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305409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Odtworzenie przepływu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43200"/>
            <a:ext cx="3054096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budowa grafu transakcyjnego od adresu startowego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240280"/>
            <a:ext cx="3383280" cy="132588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240280"/>
            <a:ext cx="73152" cy="13258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386584"/>
            <a:ext cx="305409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Wykrycie wzorców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43200"/>
            <a:ext cx="3054096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reguły dla CEX, Tornado Cash, bridge i peel chain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240280"/>
            <a:ext cx="3383280" cy="132588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240280"/>
            <a:ext cx="73152" cy="132588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386584"/>
            <a:ext cx="305409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Ocena jakości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743200"/>
            <a:ext cx="3054096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porównanie wyniku z ground truth dla znanych przypadków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43400"/>
            <a:ext cx="10241280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CBD5E1"/>
                </a:solidFill>
                <a:latin typeface="Aptos"/>
              </a:rPr>
              <a:t>Cel pracy: opracowanie prototypu wspierającego analizę aktywności transakcyjnej po incydentach w sieci Ethereum.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Zakres i zadania badawcze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9808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Aptos"/>
              </a:rPr>
              <a:t>Zakres zaakceptowany do dalszej pracy: Ethereum + 3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384048"/>
            <a:ext cx="29260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Bartosz Kloc | seminarium dyplomowe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2468880" cy="109728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73152" cy="109728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380744"/>
            <a:ext cx="213969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Zakres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37360"/>
            <a:ext cx="2139696" cy="502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Ethereum / EVM
analiza po incydencie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234440"/>
            <a:ext cx="2468880" cy="109728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234440"/>
            <a:ext cx="73152" cy="109728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1380744"/>
            <a:ext cx="213969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Przypadki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737360"/>
            <a:ext cx="2139696" cy="502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Ronin Bridge
Euler Finance
Nomad Bridge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234440"/>
            <a:ext cx="2468880" cy="109728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234440"/>
            <a:ext cx="73152" cy="109728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380744"/>
            <a:ext cx="213969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Dane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1737360"/>
            <a:ext cx="2139696" cy="502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Etherscan
Arkham
opisy incydentów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234440"/>
            <a:ext cx="2468880" cy="109728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1234440"/>
            <a:ext cx="73152" cy="10972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1380744"/>
            <a:ext cx="213969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Poza zakresem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1737360"/>
            <a:ext cx="2139696" cy="502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Bitcoin
inne sieci
pełne smart calls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063240"/>
            <a:ext cx="39319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Główne zadania badawcze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566160"/>
            <a:ext cx="7680960" cy="16459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F8FAFC"/>
                </a:solidFill>
                <a:latin typeface="Aptos"/>
              </a:defRPr>
            </a:pPr>
            <a:r>
              <a:t>opracowanie modelu śledzenia przepływu środków</a:t>
            </a:r>
          </a:p>
          <a:p>
            <a:pPr>
              <a:spcAft>
                <a:spcPts val="800"/>
              </a:spcAft>
              <a:defRPr sz="1450">
                <a:solidFill>
                  <a:srgbClr val="F8FAFC"/>
                </a:solidFill>
                <a:latin typeface="Aptos"/>
              </a:defRPr>
            </a:pPr>
            <a:r>
              <a:t>implementacja prototypu aplikacji</a:t>
            </a:r>
          </a:p>
          <a:p>
            <a:pPr>
              <a:spcAft>
                <a:spcPts val="800"/>
              </a:spcAft>
              <a:defRPr sz="1450">
                <a:solidFill>
                  <a:srgbClr val="F8FAFC"/>
                </a:solidFill>
                <a:latin typeface="Aptos"/>
              </a:defRPr>
            </a:pPr>
            <a:r>
              <a:t>dobór heurystyk i metryk oceny</a:t>
            </a:r>
          </a:p>
          <a:p>
            <a:pPr>
              <a:spcAft>
                <a:spcPts val="800"/>
              </a:spcAft>
              <a:defRPr sz="1450">
                <a:solidFill>
                  <a:srgbClr val="F8FAFC"/>
                </a:solidFill>
                <a:latin typeface="Aptos"/>
              </a:defRPr>
            </a:pPr>
            <a:r>
              <a:t>przeprowadzenie eksperymentów na znanych incydentach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Tło problemu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9808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Aptos"/>
              </a:rPr>
              <a:t>Istniejące narzędzia pomagają, ale praca skupia się na prototypie badawczym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384048"/>
            <a:ext cx="29260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Bartosz Kloc | seminarium dyplomowe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4937760" cy="141732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234440"/>
            <a:ext cx="73152" cy="1417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380744"/>
            <a:ext cx="460857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Eksploratory blockchain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737360"/>
            <a:ext cx="4608576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Pokazują transakcje, ale analiza wielu kroków jest ręczna.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4937760" cy="141732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73152" cy="141732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380744"/>
            <a:ext cx="460857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Narzędzia komercyjne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37360"/>
            <a:ext cx="4608576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Chainalysis / Elliptic są pomocne, ale zamknięte badawczo.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200400"/>
            <a:ext cx="4937760" cy="141732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200400"/>
            <a:ext cx="73152" cy="14173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346704"/>
            <a:ext cx="460857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Metody ML/GNN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703320"/>
            <a:ext cx="4608576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Osobny kierunek badań, wymagający dużych zbiorów danych.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200400"/>
            <a:ext cx="4937760" cy="141732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200400"/>
            <a:ext cx="73152" cy="141732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346704"/>
            <a:ext cx="460857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Moje miejsce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703320"/>
            <a:ext cx="4608576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Analiza po incydencie: graf przepływu, heurystyki i wyniki.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Proponowane rozwiązanie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9808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Aptos"/>
              </a:rPr>
              <a:t>Architektura prototypu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384048"/>
            <a:ext cx="29260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Bartosz Kloc | seminarium dyplomowe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1600200" cy="132588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920240"/>
            <a:ext cx="73152" cy="132588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066544"/>
            <a:ext cx="127101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23160"/>
            <a:ext cx="1271016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Next.js
interfejs użytkownika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6856" y="2578608"/>
            <a:ext cx="256032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06040" y="1920240"/>
            <a:ext cx="1600200" cy="132588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40" y="1920240"/>
            <a:ext cx="73152" cy="132588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8" y="2066544"/>
            <a:ext cx="127101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423160"/>
            <a:ext cx="1271016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FastAPI
logika analizy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88536" y="2578608"/>
            <a:ext cx="256032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617720" y="1920240"/>
            <a:ext cx="1600200" cy="132588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1920240"/>
            <a:ext cx="73152" cy="132588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8888" y="2066544"/>
            <a:ext cx="127101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Źródła danych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2423160"/>
            <a:ext cx="1271016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Etherscan
Arkham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00216" y="2578608"/>
            <a:ext cx="256032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629400" y="1920240"/>
            <a:ext cx="1600200" cy="132588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29400" y="1920240"/>
            <a:ext cx="73152" cy="13258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0568" y="2066544"/>
            <a:ext cx="127101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Cache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2423160"/>
            <a:ext cx="1271016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lokalny zapis
odpowiedzi API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11896" y="2578608"/>
            <a:ext cx="256032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641080" y="1920240"/>
            <a:ext cx="1600200" cy="132588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41080" y="1920240"/>
            <a:ext cx="73152" cy="132588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42248" y="2066544"/>
            <a:ext cx="127101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Analiza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2248" y="2423160"/>
            <a:ext cx="1271016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graf + heurystyki
metryki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251960"/>
            <a:ext cx="102412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CBD5E1"/>
                </a:solidFill>
                <a:latin typeface="Aptos"/>
              </a:rPr>
              <a:t>Efekt: użytkownik może uruchomić analizę, obejrzeć graf przepływu i porównać wyniki dla wybranych przypadków.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Metoda śledzenia przepływu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9808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Aptos"/>
              </a:rPr>
              <a:t>BFS, czyli analiza kolejnych kroków od adresu startowego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384048"/>
            <a:ext cx="29260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Bartosz Kloc | seminarium dyplomowe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143000"/>
            <a:ext cx="5943600" cy="4160520"/>
          </a:xfrm>
          <a:prstGeom prst="roundRect">
            <a:avLst/>
          </a:prstGeom>
          <a:solidFill>
            <a:srgbClr val="05081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777807"/>
            <a:ext cx="5797296" cy="28909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0" y="5376672"/>
            <a:ext cx="59436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Aptos"/>
              </a:rPr>
              <a:t>Przykładowy widok grafu przepływu w aplikacji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4160520" cy="274320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start od adresu powiązanego z incydentem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kolejne transakcje tworzą graf przepływu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hops oznacza głębokość śledzenia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CEX, mikser lub bridge to istotne punkty końcowe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00600"/>
            <a:ext cx="40233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F59E0B"/>
                </a:solidFill>
                <a:latin typeface="Aptos"/>
              </a:rPr>
              <a:t>Główne ustawienie wyników: hops=3.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Implementacja prototypu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9808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Aptos"/>
              </a:rPr>
              <a:t>Działająca aplikacja webowa z widokiem grafu i wyników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384048"/>
            <a:ext cx="29260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Bartosz Kloc | seminarium dyplomowe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486400" cy="4160520"/>
          </a:xfrm>
          <a:prstGeom prst="roundRect">
            <a:avLst/>
          </a:prstGeom>
          <a:solidFill>
            <a:srgbClr val="05081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280519"/>
            <a:ext cx="5340096" cy="38854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376672"/>
            <a:ext cx="54864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Aptos"/>
              </a:rPr>
              <a:t>Ekran główny aplikacji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143000"/>
            <a:ext cx="5074920" cy="2743200"/>
          </a:xfrm>
          <a:prstGeom prst="roundRect">
            <a:avLst/>
          </a:prstGeom>
          <a:solidFill>
            <a:srgbClr val="05081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306562"/>
            <a:ext cx="4928616" cy="24160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46520" y="3959352"/>
            <a:ext cx="507492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Aptos"/>
              </a:rPr>
              <a:t>Tabela eksperymentów dla 3 przypadków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160520"/>
            <a:ext cx="33832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Zaimplementowane elementy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526280"/>
            <a:ext cx="4206240" cy="114300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Aptos"/>
              </a:defRPr>
            </a:pPr>
            <a:r>
              <a:t>frontend i backend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Aptos"/>
              </a:defRPr>
            </a:pPr>
            <a:r>
              <a:t>integracja z API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Aptos"/>
              </a:defRPr>
            </a:pPr>
            <a:r>
              <a:t>cache odpowiedzi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Aptos"/>
              </a:defRPr>
            </a:pPr>
            <a:r>
              <a:t>graf, heurystyki i metryki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Eksperymenty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9808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Aptos"/>
              </a:rPr>
              <a:t>Trzy znane incydenty jako studia przypadków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384048"/>
            <a:ext cx="29260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Bartosz Kloc | seminarium dyplomowe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3291840" cy="141732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234440"/>
            <a:ext cx="73152" cy="1417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380744"/>
            <a:ext cx="29626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Ronin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737360"/>
            <a:ext cx="2962656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$625M, 2022
najważniejszy przypadek dla CEX Coverage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79" y="1234440"/>
            <a:ext cx="3291840" cy="141732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79" y="1234440"/>
            <a:ext cx="73152" cy="141732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7" y="1380744"/>
            <a:ext cx="29626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Euler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7" y="1737360"/>
            <a:ext cx="2962656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$197M, 2023
częściowe odtworzenie znanych adresów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19" y="1234440"/>
            <a:ext cx="3291840" cy="141732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19" y="1234440"/>
            <a:ext cx="73152" cy="141732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1380744"/>
            <a:ext cx="296265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Nomad Bridge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737360"/>
            <a:ext cx="2962656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$190M, 2022
najwyższy Address Recall w eksperymencie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27432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Metryki oceny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794760"/>
            <a:ext cx="4754880" cy="59436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3794760"/>
            <a:ext cx="73152" cy="5943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941064"/>
            <a:ext cx="442569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Address 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297680"/>
            <a:ext cx="4425696" cy="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ile znanych adresów znaleziono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3794760"/>
            <a:ext cx="4754880" cy="59436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3794760"/>
            <a:ext cx="73152" cy="5943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3941064"/>
            <a:ext cx="442569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Heuristic Precision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4297680"/>
            <a:ext cx="4425696" cy="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ile alertów było uzasadnionych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572000"/>
            <a:ext cx="4754880" cy="59436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4572000"/>
            <a:ext cx="73152" cy="5943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4718304"/>
            <a:ext cx="442569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Heuristic Recall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5074920"/>
            <a:ext cx="4425696" cy="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ile oczekiwanych kategorii wykryto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4572000"/>
            <a:ext cx="4754880" cy="59436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4572000"/>
            <a:ext cx="73152" cy="59436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1928" y="4718304"/>
            <a:ext cx="442569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CEX Coverage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5074920"/>
            <a:ext cx="4425696" cy="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czy dotarto do znanych adresów giełdowych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Wyniki i interpretacja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9808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Aptos"/>
              </a:rPr>
              <a:t>Finalny eksperyment: hops=3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384048"/>
            <a:ext cx="29260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Bartosz Kloc | seminarium dyplomowe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34440"/>
          <a:ext cx="6629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  <a:gridCol w="1325880"/>
              </a:tblGrid>
              <a:tr h="53035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Przypadek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Addr. Recall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Heur. Precision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Heur. Recall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CEX Coverage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Ronin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67%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67%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Euler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Nomad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67%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67%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Średnia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69%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18120" y="1325880"/>
            <a:ext cx="128016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22C55E"/>
                </a:solidFill>
                <a:latin typeface="Aptos"/>
              </a:rPr>
              <a:t>88%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856231"/>
            <a:ext cx="155448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CBD5E1"/>
                </a:solidFill>
                <a:latin typeface="Aptos"/>
              </a:rPr>
              <a:t>najwyższy Address Recall
Nomad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325880"/>
            <a:ext cx="128016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22C55E"/>
                </a:solidFill>
                <a:latin typeface="Aptos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19" y="1856231"/>
            <a:ext cx="155448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CBD5E1"/>
                </a:solidFill>
                <a:latin typeface="Aptos"/>
              </a:rPr>
              <a:t>CEX Coverage
Ronin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1325880"/>
            <a:ext cx="128016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3B82F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1856231"/>
            <a:ext cx="155448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CBD5E1"/>
                </a:solidFill>
                <a:latin typeface="Aptos"/>
              </a:rPr>
              <a:t>studia
przypadków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063240"/>
            <a:ext cx="3337560" cy="16459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t>Ronin: dotarto do adresów giełdowych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t>Nomad: najwyższy zasięg adresów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t>hops=3 daje bogatszy graf, ale więcej zapytań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Ograniczenia i dyskusja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9808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Aptos"/>
              </a:rPr>
              <a:t>Uczciwy zakres prototypu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384048"/>
            <a:ext cx="29260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Bartosz Kloc | seminarium dyplomowe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4892040" cy="105156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234440"/>
            <a:ext cx="73152" cy="10515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380744"/>
            <a:ext cx="456285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Zakres sieci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737360"/>
            <a:ext cx="4562855" cy="4571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obecnie Ethereum / EVM, bez Bitcoina i innych modeli transakcyjnych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4892040" cy="105156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34440"/>
            <a:ext cx="73152" cy="10515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380744"/>
            <a:ext cx="456285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Jakość danych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737360"/>
            <a:ext cx="4562855" cy="4571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wyniki zależą od publicznych API, etykiet i udokumentowanego ground truth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34640"/>
            <a:ext cx="4892040" cy="105156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834640"/>
            <a:ext cx="73152" cy="10515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980944"/>
            <a:ext cx="456285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Głębokość analizy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337560"/>
            <a:ext cx="4562855" cy="4571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większy hops zwiększa skuteczność, ale szybko powiększa graf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834640"/>
            <a:ext cx="4892040" cy="105156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834640"/>
            <a:ext cx="73152" cy="105156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980944"/>
            <a:ext cx="456285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Smart contracts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337560"/>
            <a:ext cx="4562855" cy="4571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pełna analiza wewnętrznych wywołań kontraktów jest poza aktualnym zakresem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92040"/>
            <a:ext cx="102412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CBD5E1"/>
                </a:solidFill>
                <a:latin typeface="Aptos"/>
              </a:rPr>
              <a:t>Te ograniczenia nie blokują pracy — wyznaczają granice prototypu i naturalne kierunki rozwoju.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Wnioski i dalsze prace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9808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Aptos"/>
              </a:rPr>
              <a:t>Aktualny stan: prototyp działa, teraz praca pisemna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384048"/>
            <a:ext cx="29260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Bartosz Kloc | seminarium dyplomowe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337560" cy="123444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73152" cy="123444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335024"/>
            <a:ext cx="300837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Wniosek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691640"/>
            <a:ext cx="3008376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prototyp działa end-to-end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188720"/>
            <a:ext cx="3337560" cy="123444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188720"/>
            <a:ext cx="73152" cy="1234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335024"/>
            <a:ext cx="300837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Wniosek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691640"/>
            <a:ext cx="3008376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wyniki można porównać z ground truth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88720"/>
            <a:ext cx="3337560" cy="123444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88720"/>
            <a:ext cx="73152" cy="1234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335024"/>
            <a:ext cx="300837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Wniosek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691640"/>
            <a:ext cx="3008376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hops=3 poprawia zasięg, ale zwiększa koszt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54680"/>
            <a:ext cx="24688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Dalsze kroki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66160"/>
            <a:ext cx="8961120" cy="155448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F8FAFC"/>
                </a:solidFill>
                <a:latin typeface="Aptos"/>
              </a:defRPr>
            </a:pPr>
            <a:r>
              <a:t>opis części teoretycznej: blockchain, Ethereum, OSINT i forensics</a:t>
            </a:r>
          </a:p>
          <a:p>
            <a:pPr>
              <a:spcAft>
                <a:spcPts val="800"/>
              </a:spcAft>
              <a:defRPr sz="1450">
                <a:solidFill>
                  <a:srgbClr val="F8FAFC"/>
                </a:solidFill>
                <a:latin typeface="Aptos"/>
              </a:defRPr>
            </a:pPr>
            <a:r>
              <a:t>opis metodologii: graf, heurystyki, metryki i ground truth</a:t>
            </a:r>
          </a:p>
          <a:p>
            <a:pPr>
              <a:spcAft>
                <a:spcPts val="800"/>
              </a:spcAft>
              <a:defRPr sz="1450">
                <a:solidFill>
                  <a:srgbClr val="F8FAFC"/>
                </a:solidFill>
                <a:latin typeface="Aptos"/>
              </a:defRPr>
            </a:pPr>
            <a:r>
              <a:t>interpretacja wyników eksperymentów</a:t>
            </a:r>
          </a:p>
          <a:p>
            <a:pPr>
              <a:spcAft>
                <a:spcPts val="800"/>
              </a:spcAft>
              <a:defRPr sz="1450">
                <a:solidFill>
                  <a:srgbClr val="F8FAFC"/>
                </a:solidFill>
                <a:latin typeface="Aptos"/>
              </a:defRPr>
            </a:pPr>
            <a:r>
              <a:t>w przyszłości: inne sieci, większa baza incydentów i dokładniejsza analiza smart kontraktów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F8FAFC"/>
                </a:solidFill>
                <a:latin typeface="Aptos"/>
              </a:rPr>
              <a:t>Dziękuję za uwagę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107899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6B6D4"/>
                </a:solidFill>
                <a:latin typeface="Aptos"/>
              </a:rPr>
              <a:t>Pytania?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069080"/>
            <a:ext cx="891540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Aptos"/>
              </a:rPr>
              <a:t>Automatyczne wykrywanie i analiza aktywności transakcyjnej w blockchainie po incydentach cyberbezpieczeństwa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5508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